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8" r:id="rId1"/>
  </p:sldMasterIdLst>
  <p:sldIdLst>
    <p:sldId id="256" r:id="rId2"/>
    <p:sldId id="257" r:id="rId3"/>
    <p:sldId id="258" r:id="rId4"/>
    <p:sldId id="269" r:id="rId5"/>
    <p:sldId id="259" r:id="rId6"/>
    <p:sldId id="260" r:id="rId7"/>
    <p:sldId id="262" r:id="rId8"/>
    <p:sldId id="261" r:id="rId9"/>
    <p:sldId id="270" r:id="rId10"/>
    <p:sldId id="263" r:id="rId11"/>
    <p:sldId id="264" r:id="rId12"/>
    <p:sldId id="265" r:id="rId13"/>
    <p:sldId id="273" r:id="rId14"/>
    <p:sldId id="271" r:id="rId15"/>
    <p:sldId id="272" r:id="rId16"/>
    <p:sldId id="266" r:id="rId17"/>
    <p:sldId id="267" r:id="rId18"/>
    <p:sldId id="268" r:id="rId19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5" autoAdjust="0"/>
    <p:restoredTop sz="94660"/>
  </p:normalViewPr>
  <p:slideViewPr>
    <p:cSldViewPr snapToGrid="0">
      <p:cViewPr varScale="1">
        <p:scale>
          <a:sx n="74" d="100"/>
          <a:sy n="74" d="100"/>
        </p:scale>
        <p:origin x="49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373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B8188-FFB8-48D8-889C-808572D22571}" type="datetimeFigureOut">
              <a:rPr lang="es-ES" smtClean="0"/>
              <a:t>17/05/2016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D3A61-D3A8-43EB-A162-EFF6F8E13C7A}" type="slidenum">
              <a:rPr lang="es-ES" smtClean="0"/>
              <a:t>‹Nº›</a:t>
            </a:fld>
            <a:endParaRPr lang="es-E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152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B8188-FFB8-48D8-889C-808572D22571}" type="datetimeFigureOut">
              <a:rPr lang="es-ES" smtClean="0"/>
              <a:t>17/05/2016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D3A61-D3A8-43EB-A162-EFF6F8E13C7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35678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B8188-FFB8-48D8-889C-808572D22571}" type="datetimeFigureOut">
              <a:rPr lang="es-ES" smtClean="0"/>
              <a:t>17/05/2016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D3A61-D3A8-43EB-A162-EFF6F8E13C7A}" type="slidenum">
              <a:rPr lang="es-ES" smtClean="0"/>
              <a:t>‹Nº›</a:t>
            </a:fld>
            <a:endParaRPr lang="es-E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2184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B8188-FFB8-48D8-889C-808572D22571}" type="datetimeFigureOut">
              <a:rPr lang="es-ES" smtClean="0"/>
              <a:t>17/05/2016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D3A61-D3A8-43EB-A162-EFF6F8E13C7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279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B8188-FFB8-48D8-889C-808572D22571}" type="datetimeFigureOut">
              <a:rPr lang="es-ES" smtClean="0"/>
              <a:t>17/05/2016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D3A61-D3A8-43EB-A162-EFF6F8E13C7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46717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B8188-FFB8-48D8-889C-808572D22571}" type="datetimeFigureOut">
              <a:rPr lang="es-ES" smtClean="0"/>
              <a:t>17/05/2016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D3A61-D3A8-43EB-A162-EFF6F8E13C7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4472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B8188-FFB8-48D8-889C-808572D22571}" type="datetimeFigureOut">
              <a:rPr lang="es-ES" smtClean="0"/>
              <a:t>17/05/2016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D3A61-D3A8-43EB-A162-EFF6F8E13C7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62625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EF0B8188-FFB8-48D8-889C-808572D22571}" type="datetimeFigureOut">
              <a:rPr lang="es-ES" smtClean="0"/>
              <a:t>17/05/2016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52D3A61-D3A8-43EB-A162-EFF6F8E13C7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95971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B8188-FFB8-48D8-889C-808572D22571}" type="datetimeFigureOut">
              <a:rPr lang="es-ES" smtClean="0"/>
              <a:t>17/05/2016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D3A61-D3A8-43EB-A162-EFF6F8E13C7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92299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B8188-FFB8-48D8-889C-808572D22571}" type="datetimeFigureOut">
              <a:rPr lang="es-ES" smtClean="0"/>
              <a:t>17/05/2016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D3A61-D3A8-43EB-A162-EFF6F8E13C7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19250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B8188-FFB8-48D8-889C-808572D22571}" type="datetimeFigureOut">
              <a:rPr lang="es-ES" smtClean="0"/>
              <a:t>17/05/2016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D3A61-D3A8-43EB-A162-EFF6F8E13C7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78954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F0B8188-FFB8-48D8-889C-808572D22571}" type="datetimeFigureOut">
              <a:rPr lang="es-ES" smtClean="0"/>
              <a:t>17/05/2016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52D3A61-D3A8-43EB-A162-EFF6F8E13C7A}" type="slidenum">
              <a:rPr lang="es-ES" smtClean="0"/>
              <a:t>‹Nº›</a:t>
            </a:fld>
            <a:endParaRPr lang="es-E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9865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  <p:sldLayoutId id="2147483788" r:id="rId10"/>
    <p:sldLayoutId id="214748378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ctrTitle"/>
          </p:nvPr>
        </p:nvSpPr>
        <p:spPr>
          <a:xfrm>
            <a:off x="1254978" y="2672035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b="1" dirty="0" err="1" smtClean="0"/>
              <a:t>Reglas</a:t>
            </a:r>
            <a:r>
              <a:rPr lang="en-US" b="1" dirty="0" smtClean="0"/>
              <a:t> de </a:t>
            </a:r>
            <a:r>
              <a:rPr lang="en-US" b="1" dirty="0" err="1" smtClean="0"/>
              <a:t>Clasificación</a:t>
            </a: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(</a:t>
            </a:r>
            <a:r>
              <a:rPr lang="en-US" b="1" dirty="0" err="1" smtClean="0"/>
              <a:t>Predictores</a:t>
            </a:r>
            <a:r>
              <a:rPr lang="en-US" b="1" dirty="0" smtClean="0"/>
              <a:t> </a:t>
            </a:r>
            <a:r>
              <a:rPr lang="en-US" b="1" dirty="0" err="1" smtClean="0"/>
              <a:t>Basados</a:t>
            </a:r>
            <a:r>
              <a:rPr lang="en-US" b="1" dirty="0" smtClean="0"/>
              <a:t> en </a:t>
            </a:r>
            <a:r>
              <a:rPr lang="en-US" b="1" dirty="0" err="1" smtClean="0"/>
              <a:t>Aprendizaje</a:t>
            </a:r>
            <a:r>
              <a:rPr lang="en-US" b="1" dirty="0" smtClean="0"/>
              <a:t> de </a:t>
            </a:r>
            <a:r>
              <a:rPr lang="en-US" b="1" dirty="0" err="1" smtClean="0"/>
              <a:t>Reglas</a:t>
            </a:r>
            <a:r>
              <a:rPr lang="en-US" b="1" dirty="0" smtClean="0"/>
              <a:t>)</a:t>
            </a:r>
            <a:br>
              <a:rPr lang="en-US" b="1" dirty="0" smtClean="0"/>
            </a:br>
            <a:r>
              <a:rPr lang="en-US" b="1" dirty="0" smtClean="0"/>
              <a:t>“Rule Learners”</a:t>
            </a:r>
            <a:br>
              <a:rPr lang="en-US" b="1" dirty="0" smtClean="0"/>
            </a:br>
            <a:r>
              <a:rPr lang="en-US" sz="3600" b="1" dirty="0" smtClean="0">
                <a:solidFill>
                  <a:srgbClr val="FF0000"/>
                </a:solidFill>
              </a:rPr>
              <a:t/>
            </a:r>
            <a:br>
              <a:rPr lang="en-US" sz="3600" b="1" dirty="0" smtClean="0">
                <a:solidFill>
                  <a:srgbClr val="FF0000"/>
                </a:solidFill>
              </a:rPr>
            </a:br>
            <a:r>
              <a:rPr lang="en-US" sz="3600" b="1" dirty="0" smtClean="0">
                <a:solidFill>
                  <a:srgbClr val="FF0000"/>
                </a:solidFill>
              </a:rPr>
              <a:t>Gustavo Bruges</a:t>
            </a:r>
            <a:endParaRPr lang="es-ES" sz="3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9901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940313" y="535259"/>
            <a:ext cx="754264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ANTECEDENTE </a:t>
            </a:r>
            <a:r>
              <a:rPr lang="en-US" dirty="0" smtClean="0">
                <a:sym typeface="Wingdings" panose="05000000000000000000" pitchFamily="2" charset="2"/>
              </a:rPr>
              <a:t>CONSECUENCIA (IF-ELSE)REGLAS SI-ENTONCES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endParaRPr lang="en-US" dirty="0" smtClean="0">
              <a:sym typeface="Wingdings" panose="05000000000000000000" pitchFamily="2" charset="2"/>
            </a:endParaRPr>
          </a:p>
          <a:p>
            <a:r>
              <a:rPr lang="en-US" dirty="0" smtClean="0"/>
              <a:t>“SI EL DISCO DURO TIENE UN SONIDO TIPO CLICK, ENTONCES ESTA FALLANDO”</a:t>
            </a:r>
            <a:endParaRPr lang="es-ES" dirty="0"/>
          </a:p>
        </p:txBody>
      </p:sp>
      <p:sp>
        <p:nvSpPr>
          <p:cNvPr id="3" name="CuadroTexto 2"/>
          <p:cNvSpPr txBox="1"/>
          <p:nvPr/>
        </p:nvSpPr>
        <p:spPr>
          <a:xfrm>
            <a:off x="904156" y="4985683"/>
            <a:ext cx="2660152" cy="923330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ANTECEDENTE:</a:t>
            </a:r>
          </a:p>
          <a:p>
            <a:pPr algn="ctr"/>
            <a:endParaRPr lang="en-US" dirty="0"/>
          </a:p>
          <a:p>
            <a:pPr algn="ctr"/>
            <a:r>
              <a:rPr lang="en-US" dirty="0" err="1" smtClean="0"/>
              <a:t>Combinación</a:t>
            </a:r>
            <a:r>
              <a:rPr lang="en-US" dirty="0" smtClean="0"/>
              <a:t> de </a:t>
            </a:r>
            <a:r>
              <a:rPr lang="en-US" dirty="0" err="1" smtClean="0"/>
              <a:t>atributos</a:t>
            </a:r>
            <a:endParaRPr lang="es-ES" dirty="0"/>
          </a:p>
        </p:txBody>
      </p:sp>
      <p:sp>
        <p:nvSpPr>
          <p:cNvPr id="4" name="CuadroTexto 3"/>
          <p:cNvSpPr txBox="1"/>
          <p:nvPr/>
        </p:nvSpPr>
        <p:spPr>
          <a:xfrm>
            <a:off x="7265347" y="4847183"/>
            <a:ext cx="3733714" cy="1200329"/>
          </a:xfrm>
          <a:prstGeom prst="rect">
            <a:avLst/>
          </a:prstGeom>
          <a:solidFill>
            <a:srgbClr val="00B0F0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CONSECUENCIA:</a:t>
            </a:r>
          </a:p>
          <a:p>
            <a:pPr algn="ctr"/>
            <a:endParaRPr lang="en-US" dirty="0"/>
          </a:p>
          <a:p>
            <a:pPr algn="ctr"/>
            <a:r>
              <a:rPr lang="en-US" dirty="0" smtClean="0"/>
              <a:t>Valor de la </a:t>
            </a:r>
            <a:r>
              <a:rPr lang="en-US" dirty="0" err="1" smtClean="0"/>
              <a:t>clase</a:t>
            </a:r>
            <a:r>
              <a:rPr lang="en-US" dirty="0" smtClean="0"/>
              <a:t> </a:t>
            </a:r>
            <a:r>
              <a:rPr lang="en-US" dirty="0" err="1" smtClean="0"/>
              <a:t>asignada</a:t>
            </a:r>
            <a:r>
              <a:rPr lang="en-US" dirty="0" smtClean="0"/>
              <a:t> </a:t>
            </a:r>
            <a:r>
              <a:rPr lang="en-US" dirty="0" err="1" smtClean="0"/>
              <a:t>que</a:t>
            </a:r>
            <a:r>
              <a:rPr lang="en-US" dirty="0" smtClean="0"/>
              <a:t> </a:t>
            </a:r>
            <a:r>
              <a:rPr lang="en-US" dirty="0" err="1" smtClean="0"/>
              <a:t>cumple</a:t>
            </a:r>
            <a:endParaRPr lang="en-US" dirty="0" smtClean="0"/>
          </a:p>
          <a:p>
            <a:pPr algn="ctr"/>
            <a:r>
              <a:rPr lang="en-US" dirty="0" smtClean="0"/>
              <a:t>Con el </a:t>
            </a:r>
            <a:r>
              <a:rPr lang="en-US" dirty="0" err="1" smtClean="0"/>
              <a:t>atributo</a:t>
            </a:r>
            <a:endParaRPr lang="es-ES" dirty="0"/>
          </a:p>
        </p:txBody>
      </p:sp>
      <p:sp>
        <p:nvSpPr>
          <p:cNvPr id="5" name="Rectángulo 4"/>
          <p:cNvSpPr/>
          <p:nvPr/>
        </p:nvSpPr>
        <p:spPr>
          <a:xfrm>
            <a:off x="2508599" y="1843310"/>
            <a:ext cx="6096000" cy="255454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>
            <a:spAutoFit/>
          </a:bodyPr>
          <a:lstStyle/>
          <a:p>
            <a:r>
              <a:rPr lang="es-ES" sz="2000" dirty="0" smtClean="0">
                <a:effectLst/>
                <a:latin typeface="Arial" panose="020B0604020202020204" pitchFamily="34" charset="0"/>
              </a:rPr>
              <a:t>Una representación popular para definición </a:t>
            </a:r>
          </a:p>
          <a:p>
            <a:r>
              <a:rPr lang="es-ES" sz="2000" dirty="0" smtClean="0">
                <a:effectLst/>
                <a:latin typeface="Arial" panose="020B0604020202020204" pitchFamily="34" charset="0"/>
              </a:rPr>
              <a:t>de conceptos: reglas </a:t>
            </a:r>
            <a:r>
              <a:rPr lang="es-ES" sz="2000" dirty="0" err="1" smtClean="0">
                <a:effectLst/>
                <a:latin typeface="Arial" panose="020B0604020202020204" pitchFamily="34" charset="0"/>
              </a:rPr>
              <a:t>if</a:t>
            </a:r>
            <a:r>
              <a:rPr lang="es-ES" sz="2000" dirty="0" smtClean="0">
                <a:effectLst/>
                <a:latin typeface="Arial" panose="020B0604020202020204" pitchFamily="34" charset="0"/>
              </a:rPr>
              <a:t> </a:t>
            </a:r>
            <a:r>
              <a:rPr lang="es-ES" sz="2000" dirty="0" err="1" smtClean="0">
                <a:effectLst/>
                <a:latin typeface="Arial" panose="020B0604020202020204" pitchFamily="34" charset="0"/>
              </a:rPr>
              <a:t>then</a:t>
            </a:r>
            <a:r>
              <a:rPr lang="es-ES" sz="2000" dirty="0" smtClean="0">
                <a:effectLst/>
                <a:latin typeface="Arial" panose="020B0604020202020204" pitchFamily="34" charset="0"/>
              </a:rPr>
              <a:t> </a:t>
            </a:r>
            <a:r>
              <a:rPr lang="es-ES" sz="2000" dirty="0" err="1" smtClean="0">
                <a:effectLst/>
                <a:latin typeface="Arial" panose="020B0604020202020204" pitchFamily="34" charset="0"/>
              </a:rPr>
              <a:t>else</a:t>
            </a:r>
            <a:r>
              <a:rPr lang="es-ES" sz="2000" dirty="0" smtClean="0">
                <a:effectLst/>
                <a:latin typeface="Arial" panose="020B0604020202020204" pitchFamily="34" charset="0"/>
              </a:rPr>
              <a:t> de conceptos:</a:t>
            </a:r>
          </a:p>
          <a:p>
            <a:r>
              <a:rPr lang="es-ES" sz="2000" dirty="0" smtClean="0">
                <a:effectLst/>
                <a:latin typeface="Arial" panose="020B0604020202020204" pitchFamily="34" charset="0"/>
              </a:rPr>
              <a:t>reglas</a:t>
            </a:r>
          </a:p>
          <a:p>
            <a:r>
              <a:rPr lang="es-ES" sz="2000" dirty="0" err="1" smtClean="0">
                <a:effectLst/>
                <a:latin typeface="Arial" panose="020B0604020202020204" pitchFamily="34" charset="0"/>
              </a:rPr>
              <a:t>if-then-else</a:t>
            </a:r>
            <a:endParaRPr lang="es-ES" sz="2000" dirty="0" smtClean="0">
              <a:effectLst/>
              <a:latin typeface="Arial" panose="020B0604020202020204" pitchFamily="34" charset="0"/>
            </a:endParaRPr>
          </a:p>
          <a:p>
            <a:r>
              <a:rPr lang="es-ES" sz="2000" dirty="0" smtClean="0">
                <a:effectLst/>
                <a:latin typeface="Arial" panose="020B0604020202020204" pitchFamily="34" charset="0"/>
              </a:rPr>
              <a:t>•</a:t>
            </a:r>
          </a:p>
          <a:p>
            <a:r>
              <a:rPr lang="es-ES" sz="2000" dirty="0" smtClean="0">
                <a:effectLst/>
                <a:latin typeface="Arial" panose="020B0604020202020204" pitchFamily="34" charset="0"/>
              </a:rPr>
              <a:t>IF &lt;instancia cumple condiciones&gt; </a:t>
            </a:r>
          </a:p>
          <a:p>
            <a:endParaRPr lang="es-ES" sz="2000" dirty="0" smtClean="0">
              <a:effectLst/>
              <a:latin typeface="Arial" panose="020B0604020202020204" pitchFamily="34" charset="0"/>
            </a:endParaRPr>
          </a:p>
          <a:p>
            <a:r>
              <a:rPr lang="es-ES" sz="2000" dirty="0" smtClean="0">
                <a:effectLst/>
                <a:latin typeface="Arial" panose="020B0604020202020204" pitchFamily="34" charset="0"/>
              </a:rPr>
              <a:t>    THEN &lt;instancia pertenece a Clase&gt;</a:t>
            </a:r>
            <a:endParaRPr lang="es-ES" sz="2000" dirty="0">
              <a:effectLst/>
              <a:latin typeface="Arial" panose="020B0604020202020204" pitchFamily="34" charset="0"/>
            </a:endParaRPr>
          </a:p>
        </p:txBody>
      </p:sp>
      <p:sp>
        <p:nvSpPr>
          <p:cNvPr id="6" name="Flecha derecha 5"/>
          <p:cNvSpPr/>
          <p:nvPr/>
        </p:nvSpPr>
        <p:spPr>
          <a:xfrm>
            <a:off x="4471639" y="5140712"/>
            <a:ext cx="1940312" cy="66907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48998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499189" y="841161"/>
            <a:ext cx="11241255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en-US" sz="2000" dirty="0" smtClean="0"/>
              <a:t>                            APLICACION QUE GENERA CONOCIMIENTO PARA FUTURAS ACCIONES:</a:t>
            </a:r>
          </a:p>
          <a:p>
            <a:pPr>
              <a:lnSpc>
                <a:spcPct val="250000"/>
              </a:lnSpc>
            </a:pPr>
            <a:endParaRPr lang="en-US" sz="2000" dirty="0"/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000" dirty="0" err="1" smtClean="0">
                <a:solidFill>
                  <a:schemeClr val="accent1">
                    <a:lumMod val="50000"/>
                  </a:schemeClr>
                </a:solidFill>
              </a:rPr>
              <a:t>Identificar</a:t>
            </a:r>
            <a:r>
              <a:rPr lang="en-US" sz="2000" dirty="0" smtClean="0">
                <a:solidFill>
                  <a:schemeClr val="accent1">
                    <a:lumMod val="50000"/>
                  </a:schemeClr>
                </a:solidFill>
              </a:rPr>
              <a:t>  </a:t>
            </a:r>
            <a:r>
              <a:rPr lang="en-US" sz="2000" dirty="0" err="1" smtClean="0">
                <a:solidFill>
                  <a:schemeClr val="accent1">
                    <a:lumMod val="50000"/>
                  </a:schemeClr>
                </a:solidFill>
              </a:rPr>
              <a:t>condicines</a:t>
            </a:r>
            <a:r>
              <a:rPr lang="en-US" sz="2000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2000" dirty="0" err="1" smtClean="0">
                <a:solidFill>
                  <a:schemeClr val="accent1">
                    <a:lumMod val="50000"/>
                  </a:schemeClr>
                </a:solidFill>
              </a:rPr>
              <a:t>que</a:t>
            </a:r>
            <a:r>
              <a:rPr lang="en-US" sz="2000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2000" dirty="0" err="1" smtClean="0">
                <a:solidFill>
                  <a:schemeClr val="accent1">
                    <a:lumMod val="50000"/>
                  </a:schemeClr>
                </a:solidFill>
              </a:rPr>
              <a:t>conduzcan</a:t>
            </a:r>
            <a:r>
              <a:rPr lang="en-US" sz="2000" dirty="0" smtClean="0">
                <a:solidFill>
                  <a:schemeClr val="accent1">
                    <a:lumMod val="50000"/>
                  </a:schemeClr>
                </a:solidFill>
              </a:rPr>
              <a:t> a la </a:t>
            </a:r>
            <a:r>
              <a:rPr lang="en-US" sz="2000" dirty="0" err="1" smtClean="0">
                <a:solidFill>
                  <a:schemeClr val="accent1">
                    <a:lumMod val="50000"/>
                  </a:schemeClr>
                </a:solidFill>
              </a:rPr>
              <a:t>identificacion</a:t>
            </a:r>
            <a:r>
              <a:rPr lang="en-US" sz="2000" dirty="0" smtClean="0">
                <a:solidFill>
                  <a:schemeClr val="accent1">
                    <a:lumMod val="50000"/>
                  </a:schemeClr>
                </a:solidFill>
              </a:rPr>
              <a:t> de </a:t>
            </a:r>
            <a:r>
              <a:rPr lang="en-US" sz="2000" dirty="0" err="1" smtClean="0">
                <a:solidFill>
                  <a:schemeClr val="accent1">
                    <a:lumMod val="50000"/>
                  </a:schemeClr>
                </a:solidFill>
              </a:rPr>
              <a:t>fallas</a:t>
            </a:r>
            <a:r>
              <a:rPr lang="en-US" sz="2000" dirty="0" smtClean="0">
                <a:solidFill>
                  <a:schemeClr val="accent1">
                    <a:lumMod val="50000"/>
                  </a:schemeClr>
                </a:solidFill>
              </a:rPr>
              <a:t> en hardware en </a:t>
            </a:r>
            <a:r>
              <a:rPr lang="en-US" sz="2000" dirty="0" err="1" smtClean="0">
                <a:solidFill>
                  <a:schemeClr val="accent1">
                    <a:lumMod val="50000"/>
                  </a:schemeClr>
                </a:solidFill>
              </a:rPr>
              <a:t>dispositivos</a:t>
            </a:r>
            <a:r>
              <a:rPr lang="en-US" sz="2000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2000" dirty="0" err="1" smtClean="0">
                <a:solidFill>
                  <a:schemeClr val="accent1">
                    <a:lumMod val="50000"/>
                  </a:schemeClr>
                </a:solidFill>
              </a:rPr>
              <a:t>mecánicos</a:t>
            </a:r>
            <a:r>
              <a:rPr lang="en-US" sz="2000" dirty="0" smtClean="0">
                <a:solidFill>
                  <a:schemeClr val="accent1">
                    <a:lumMod val="50000"/>
                  </a:schemeClr>
                </a:solidFill>
              </a:rPr>
              <a:t>.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000" dirty="0" err="1" smtClean="0"/>
              <a:t>Detectar</a:t>
            </a:r>
            <a:r>
              <a:rPr lang="en-US" sz="2000" dirty="0" smtClean="0"/>
              <a:t> </a:t>
            </a:r>
            <a:r>
              <a:rPr lang="en-US" sz="2000" dirty="0" err="1" smtClean="0"/>
              <a:t>patrones</a:t>
            </a:r>
            <a:r>
              <a:rPr lang="en-US" sz="2000" dirty="0" smtClean="0"/>
              <a:t> en </a:t>
            </a:r>
            <a:r>
              <a:rPr lang="en-US" sz="2000" dirty="0" err="1" smtClean="0"/>
              <a:t>compras</a:t>
            </a:r>
            <a:r>
              <a:rPr lang="en-US" sz="2000" dirty="0" smtClean="0"/>
              <a:t> de </a:t>
            </a:r>
            <a:r>
              <a:rPr lang="en-US" sz="2000" dirty="0" err="1" smtClean="0"/>
              <a:t>supermercados</a:t>
            </a:r>
            <a:r>
              <a:rPr lang="en-US" sz="2000" dirty="0" smtClean="0"/>
              <a:t>(</a:t>
            </a:r>
            <a:r>
              <a:rPr lang="en-US" sz="2000" dirty="0" err="1" smtClean="0"/>
              <a:t>Segmentación</a:t>
            </a:r>
            <a:r>
              <a:rPr lang="en-US" sz="2000" dirty="0" smtClean="0"/>
              <a:t> de </a:t>
            </a:r>
            <a:r>
              <a:rPr lang="en-US" sz="2000" dirty="0" err="1" smtClean="0"/>
              <a:t>clientes</a:t>
            </a:r>
            <a:r>
              <a:rPr lang="en-US" sz="2000" dirty="0" smtClean="0"/>
              <a:t>)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000" dirty="0" err="1" smtClean="0">
                <a:solidFill>
                  <a:srgbClr val="FF0000"/>
                </a:solidFill>
              </a:rPr>
              <a:t>Encontrar</a:t>
            </a:r>
            <a:r>
              <a:rPr lang="en-US" sz="2000" dirty="0" smtClean="0">
                <a:solidFill>
                  <a:srgbClr val="FF0000"/>
                </a:solidFill>
              </a:rPr>
              <a:t> </a:t>
            </a:r>
            <a:r>
              <a:rPr lang="en-US" sz="2000" dirty="0" err="1" smtClean="0">
                <a:solidFill>
                  <a:srgbClr val="FF0000"/>
                </a:solidFill>
              </a:rPr>
              <a:t>las</a:t>
            </a:r>
            <a:r>
              <a:rPr lang="en-US" sz="2000" dirty="0" smtClean="0">
                <a:solidFill>
                  <a:srgbClr val="FF0000"/>
                </a:solidFill>
              </a:rPr>
              <a:t> </a:t>
            </a:r>
            <a:r>
              <a:rPr lang="en-US" sz="2000" dirty="0" err="1" smtClean="0">
                <a:solidFill>
                  <a:srgbClr val="FF0000"/>
                </a:solidFill>
              </a:rPr>
              <a:t>condiciones</a:t>
            </a:r>
            <a:r>
              <a:rPr lang="en-US" sz="2000" dirty="0" smtClean="0">
                <a:solidFill>
                  <a:srgbClr val="FF0000"/>
                </a:solidFill>
              </a:rPr>
              <a:t> </a:t>
            </a:r>
            <a:r>
              <a:rPr lang="en-US" sz="2000" dirty="0" err="1" smtClean="0">
                <a:solidFill>
                  <a:srgbClr val="FF0000"/>
                </a:solidFill>
              </a:rPr>
              <a:t>que</a:t>
            </a:r>
            <a:r>
              <a:rPr lang="en-US" sz="2000" dirty="0" smtClean="0">
                <a:solidFill>
                  <a:srgbClr val="FF0000"/>
                </a:solidFill>
              </a:rPr>
              <a:t> </a:t>
            </a:r>
            <a:r>
              <a:rPr lang="en-US" sz="2000" dirty="0" err="1" smtClean="0">
                <a:solidFill>
                  <a:srgbClr val="FF0000"/>
                </a:solidFill>
              </a:rPr>
              <a:t>precden</a:t>
            </a:r>
            <a:r>
              <a:rPr lang="en-US" sz="2000" dirty="0" smtClean="0">
                <a:solidFill>
                  <a:srgbClr val="FF0000"/>
                </a:solidFill>
              </a:rPr>
              <a:t> a </a:t>
            </a:r>
            <a:r>
              <a:rPr lang="en-US" sz="2000" dirty="0" err="1" smtClean="0">
                <a:solidFill>
                  <a:srgbClr val="FF0000"/>
                </a:solidFill>
              </a:rPr>
              <a:t>las</a:t>
            </a:r>
            <a:r>
              <a:rPr lang="en-US" sz="2000" dirty="0" smtClean="0">
                <a:solidFill>
                  <a:srgbClr val="FF0000"/>
                </a:solidFill>
              </a:rPr>
              <a:t> </a:t>
            </a:r>
            <a:r>
              <a:rPr lang="en-US" sz="2000" dirty="0" err="1" smtClean="0">
                <a:solidFill>
                  <a:srgbClr val="FF0000"/>
                </a:solidFill>
              </a:rPr>
              <a:t>grandes</a:t>
            </a:r>
            <a:r>
              <a:rPr lang="en-US" sz="2000" dirty="0" smtClean="0">
                <a:solidFill>
                  <a:srgbClr val="FF0000"/>
                </a:solidFill>
              </a:rPr>
              <a:t> </a:t>
            </a:r>
            <a:r>
              <a:rPr lang="en-US" sz="2000" dirty="0" err="1" smtClean="0">
                <a:solidFill>
                  <a:srgbClr val="FF0000"/>
                </a:solidFill>
              </a:rPr>
              <a:t>caídas</a:t>
            </a:r>
            <a:r>
              <a:rPr lang="en-US" sz="2000" dirty="0" smtClean="0">
                <a:solidFill>
                  <a:srgbClr val="FF0000"/>
                </a:solidFill>
              </a:rPr>
              <a:t> o </a:t>
            </a:r>
            <a:r>
              <a:rPr lang="en-US" sz="2000" dirty="0" err="1" smtClean="0">
                <a:solidFill>
                  <a:srgbClr val="FF0000"/>
                </a:solidFill>
              </a:rPr>
              <a:t>incrementos</a:t>
            </a:r>
            <a:r>
              <a:rPr lang="en-US" sz="2000" dirty="0" smtClean="0">
                <a:solidFill>
                  <a:srgbClr val="FF0000"/>
                </a:solidFill>
              </a:rPr>
              <a:t> de los </a:t>
            </a:r>
            <a:r>
              <a:rPr lang="en-US" sz="2000" dirty="0" err="1" smtClean="0">
                <a:solidFill>
                  <a:srgbClr val="FF0000"/>
                </a:solidFill>
              </a:rPr>
              <a:t>precios</a:t>
            </a:r>
            <a:r>
              <a:rPr lang="en-US" sz="2000" dirty="0" smtClean="0">
                <a:solidFill>
                  <a:srgbClr val="FF0000"/>
                </a:solidFill>
              </a:rPr>
              <a:t> de </a:t>
            </a:r>
            <a:r>
              <a:rPr lang="en-US" sz="2000" dirty="0" err="1" smtClean="0">
                <a:solidFill>
                  <a:srgbClr val="FF0000"/>
                </a:solidFill>
              </a:rPr>
              <a:t>acciones</a:t>
            </a:r>
            <a:r>
              <a:rPr lang="en-US" sz="2000" dirty="0" smtClean="0">
                <a:solidFill>
                  <a:srgbClr val="FF0000"/>
                </a:solidFill>
              </a:rPr>
              <a:t> en</a:t>
            </a:r>
          </a:p>
          <a:p>
            <a:pPr>
              <a:lnSpc>
                <a:spcPct val="250000"/>
              </a:lnSpc>
            </a:pPr>
            <a:r>
              <a:rPr lang="en-US" sz="2000" dirty="0" smtClean="0">
                <a:solidFill>
                  <a:srgbClr val="FF0000"/>
                </a:solidFill>
              </a:rPr>
              <a:t>el Mercado de </a:t>
            </a:r>
            <a:r>
              <a:rPr lang="en-US" sz="2000" dirty="0" err="1" smtClean="0">
                <a:solidFill>
                  <a:srgbClr val="FF0000"/>
                </a:solidFill>
              </a:rPr>
              <a:t>Valores</a:t>
            </a:r>
            <a:endParaRPr lang="es-E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2740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510988" y="1102659"/>
            <a:ext cx="17260623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Son </a:t>
            </a:r>
            <a:r>
              <a:rPr lang="en-US" sz="28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regls</a:t>
            </a:r>
            <a:r>
              <a:rPr lang="en-US" sz="28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tipo</a:t>
            </a:r>
            <a:r>
              <a:rPr lang="en-US" sz="28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SI-ENTONCES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EL SI(IF) parte </a:t>
            </a:r>
            <a:r>
              <a:rPr lang="en-US" sz="28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estableciendo</a:t>
            </a:r>
            <a:r>
              <a:rPr lang="en-US" sz="28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una</a:t>
            </a:r>
            <a:r>
              <a:rPr lang="en-US" sz="28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condición</a:t>
            </a:r>
            <a:r>
              <a:rPr lang="en-US" sz="28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basada</a:t>
            </a:r>
            <a:r>
              <a:rPr lang="en-US" sz="28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en </a:t>
            </a:r>
            <a:r>
              <a:rPr lang="en-US" sz="28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atributos</a:t>
            </a:r>
            <a:r>
              <a:rPr lang="en-US" sz="28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 los </a:t>
            </a:r>
            <a:r>
              <a:rPr lang="en-US" sz="28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datos</a:t>
            </a:r>
            <a:endParaRPr lang="en-US" sz="2800" b="1" dirty="0" smtClean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El ENTONCES(THEN) </a:t>
            </a:r>
            <a:r>
              <a:rPr lang="en-US" sz="2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construye</a:t>
            </a:r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una</a:t>
            </a:r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clase</a:t>
            </a:r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basada</a:t>
            </a:r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en los </a:t>
            </a:r>
            <a:r>
              <a:rPr lang="en-US" sz="2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atributos</a:t>
            </a:r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seleccionados</a:t>
            </a:r>
            <a:endParaRPr lang="en-US" sz="28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¿</a:t>
            </a:r>
            <a:r>
              <a:rPr lang="en-US" sz="2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Cuáles</a:t>
            </a:r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son los </a:t>
            </a:r>
            <a:r>
              <a:rPr lang="en-US" sz="2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tipos</a:t>
            </a:r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 </a:t>
            </a:r>
            <a:r>
              <a:rPr lang="en-US" sz="2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condiciones</a:t>
            </a:r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Proposicionales</a:t>
            </a:r>
            <a:endParaRPr lang="es-ES" sz="28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8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¿POR QUE REGLAS? Son </a:t>
            </a:r>
            <a:r>
              <a:rPr lang="en-US" sz="2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las</a:t>
            </a:r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sentencias</a:t>
            </a:r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facilmente</a:t>
            </a:r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entendidas</a:t>
            </a:r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por</a:t>
            </a:r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los </a:t>
            </a:r>
            <a:r>
              <a:rPr lang="en-US" sz="2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humanos</a:t>
            </a:r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para la </a:t>
            </a:r>
            <a:r>
              <a:rPr lang="en-US" sz="2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construcción</a:t>
            </a:r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 </a:t>
            </a:r>
            <a:r>
              <a:rPr lang="en-US" sz="2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hipótesis</a:t>
            </a:r>
            <a:endParaRPr lang="en-US" sz="28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92194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3225367" y="364710"/>
            <a:ext cx="543225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DIFERENCIAS CON RESPECTO A UN ARBOL DE DECISION:</a:t>
            </a:r>
          </a:p>
          <a:p>
            <a:endParaRPr lang="en-US" dirty="0"/>
          </a:p>
          <a:p>
            <a:endParaRPr lang="es-ES" dirty="0"/>
          </a:p>
        </p:txBody>
      </p:sp>
      <p:sp>
        <p:nvSpPr>
          <p:cNvPr id="3" name="Rectángulo 2"/>
          <p:cNvSpPr/>
          <p:nvPr/>
        </p:nvSpPr>
        <p:spPr>
          <a:xfrm>
            <a:off x="1631576" y="1740775"/>
            <a:ext cx="8460756" cy="2862322"/>
          </a:xfrm>
          <a:prstGeom prst="rect">
            <a:avLst/>
          </a:prstGeom>
          <a:solidFill>
            <a:schemeClr val="accent1">
              <a:alpha val="14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</a:pPr>
            <a:r>
              <a:rPr lang="es-ES" dirty="0" smtClean="0"/>
              <a:t>La regla se leen como una PROPOSICION que se lee como una SENTENCIA SIMPLE y no es necesaria aplicarla de manera descendente como en el caso del árbol de decisión.</a:t>
            </a:r>
          </a:p>
          <a:p>
            <a:pPr>
              <a:lnSpc>
                <a:spcPct val="250000"/>
              </a:lnSpc>
            </a:pPr>
            <a:endParaRPr lang="en-US" dirty="0"/>
          </a:p>
          <a:p>
            <a:pPr>
              <a:lnSpc>
                <a:spcPct val="250000"/>
              </a:lnSpc>
            </a:pPr>
            <a:r>
              <a:rPr lang="en-US" dirty="0" smtClean="0"/>
              <a:t>ATRIBUTOS  PRINCIPALMENTE NOMINALES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80602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2969942" y="891210"/>
            <a:ext cx="6096000" cy="1754326"/>
          </a:xfrm>
          <a:prstGeom prst="rect">
            <a:avLst/>
          </a:prstGeom>
          <a:solidFill>
            <a:srgbClr val="92D050"/>
          </a:solidFill>
        </p:spPr>
        <p:txBody>
          <a:bodyPr>
            <a:spAutoFit/>
          </a:bodyPr>
          <a:lstStyle/>
          <a:p>
            <a:r>
              <a:rPr lang="es-ES" b="1" dirty="0" smtClean="0"/>
              <a:t>El proceso implica la identificación de una regla que cubre un subconjunto de ejemplos en los datos de entrenamiento y, a continuación, la separación del subgrupo de datos restantes</a:t>
            </a:r>
          </a:p>
          <a:p>
            <a:r>
              <a:rPr lang="es-ES" b="1" dirty="0" smtClean="0"/>
              <a:t>Se generan subconjuntos adicionales de los datos a medida que se aplica la regla hasta que todo el conjunto quede cubierto</a:t>
            </a:r>
          </a:p>
        </p:txBody>
      </p:sp>
      <p:sp>
        <p:nvSpPr>
          <p:cNvPr id="3" name="CuadroTexto 2"/>
          <p:cNvSpPr txBox="1"/>
          <p:nvPr/>
        </p:nvSpPr>
        <p:spPr>
          <a:xfrm>
            <a:off x="4234441" y="367990"/>
            <a:ext cx="38657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/>
              <a:t>SEPARAR Y CONQUISTAR</a:t>
            </a:r>
            <a:endParaRPr lang="es-ES" sz="2800" b="1" dirty="0"/>
          </a:p>
        </p:txBody>
      </p:sp>
      <p:sp>
        <p:nvSpPr>
          <p:cNvPr id="4" name="Elipse 3"/>
          <p:cNvSpPr/>
          <p:nvPr/>
        </p:nvSpPr>
        <p:spPr>
          <a:xfrm>
            <a:off x="2754352" y="2587082"/>
            <a:ext cx="6958361" cy="3925230"/>
          </a:xfrm>
          <a:prstGeom prst="ellipse">
            <a:avLst/>
          </a:prstGeom>
          <a:solidFill>
            <a:schemeClr val="bg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b="1"/>
          </a:p>
        </p:txBody>
      </p:sp>
      <p:sp>
        <p:nvSpPr>
          <p:cNvPr id="5" name="CuadroTexto 4"/>
          <p:cNvSpPr txBox="1"/>
          <p:nvPr/>
        </p:nvSpPr>
        <p:spPr>
          <a:xfrm>
            <a:off x="4982259" y="2765504"/>
            <a:ext cx="25025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TODOS ANIMALES</a:t>
            </a:r>
            <a:endParaRPr lang="es-ES" sz="2400" b="1" dirty="0"/>
          </a:p>
        </p:txBody>
      </p:sp>
      <p:sp>
        <p:nvSpPr>
          <p:cNvPr id="6" name="CuadroTexto 5"/>
          <p:cNvSpPr txBox="1"/>
          <p:nvPr/>
        </p:nvSpPr>
        <p:spPr>
          <a:xfrm>
            <a:off x="3356853" y="4049715"/>
            <a:ext cx="6321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Aves</a:t>
            </a:r>
            <a:endParaRPr lang="es-ES" b="1" dirty="0"/>
          </a:p>
        </p:txBody>
      </p:sp>
      <p:sp>
        <p:nvSpPr>
          <p:cNvPr id="7" name="CuadroTexto 6"/>
          <p:cNvSpPr txBox="1"/>
          <p:nvPr/>
        </p:nvSpPr>
        <p:spPr>
          <a:xfrm>
            <a:off x="3422294" y="4365031"/>
            <a:ext cx="964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 smtClean="0"/>
              <a:t>Insectos</a:t>
            </a:r>
            <a:endParaRPr lang="es-ES" b="1" dirty="0"/>
          </a:p>
        </p:txBody>
      </p:sp>
      <p:sp>
        <p:nvSpPr>
          <p:cNvPr id="8" name="CuadroTexto 7"/>
          <p:cNvSpPr txBox="1"/>
          <p:nvPr/>
        </p:nvSpPr>
        <p:spPr>
          <a:xfrm>
            <a:off x="3841856" y="4995955"/>
            <a:ext cx="508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 smtClean="0"/>
              <a:t>Pez</a:t>
            </a:r>
            <a:endParaRPr lang="es-ES" b="1" dirty="0"/>
          </a:p>
        </p:txBody>
      </p:sp>
      <p:sp>
        <p:nvSpPr>
          <p:cNvPr id="9" name="CuadroTexto 8"/>
          <p:cNvSpPr txBox="1"/>
          <p:nvPr/>
        </p:nvSpPr>
        <p:spPr>
          <a:xfrm>
            <a:off x="4282590" y="4744410"/>
            <a:ext cx="11340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 smtClean="0"/>
              <a:t>Tiburones</a:t>
            </a:r>
            <a:endParaRPr lang="es-ES" b="1" dirty="0"/>
          </a:p>
        </p:txBody>
      </p:sp>
      <p:sp>
        <p:nvSpPr>
          <p:cNvPr id="10" name="CuadroTexto 9"/>
          <p:cNvSpPr txBox="1"/>
          <p:nvPr/>
        </p:nvSpPr>
        <p:spPr>
          <a:xfrm>
            <a:off x="4692133" y="3627014"/>
            <a:ext cx="12563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 smtClean="0"/>
              <a:t>Murciélago</a:t>
            </a:r>
            <a:endParaRPr lang="es-ES" b="1" dirty="0"/>
          </a:p>
        </p:txBody>
      </p:sp>
      <p:sp>
        <p:nvSpPr>
          <p:cNvPr id="11" name="CuadroTexto 10"/>
          <p:cNvSpPr txBox="1"/>
          <p:nvPr/>
        </p:nvSpPr>
        <p:spPr>
          <a:xfrm>
            <a:off x="4384798" y="5330560"/>
            <a:ext cx="997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 smtClean="0"/>
              <a:t>Anguilas</a:t>
            </a:r>
            <a:endParaRPr lang="es-ES" b="1" dirty="0"/>
          </a:p>
        </p:txBody>
      </p:sp>
      <p:grpSp>
        <p:nvGrpSpPr>
          <p:cNvPr id="23" name="Grupo 22"/>
          <p:cNvGrpSpPr/>
          <p:nvPr/>
        </p:nvGrpSpPr>
        <p:grpSpPr>
          <a:xfrm>
            <a:off x="6031653" y="3560895"/>
            <a:ext cx="3460236" cy="2001694"/>
            <a:chOff x="6031653" y="3560895"/>
            <a:chExt cx="3460236" cy="2001694"/>
          </a:xfrm>
        </p:grpSpPr>
        <p:sp>
          <p:nvSpPr>
            <p:cNvPr id="12" name="CuadroTexto 11"/>
            <p:cNvSpPr txBox="1"/>
            <p:nvPr/>
          </p:nvSpPr>
          <p:spPr>
            <a:xfrm>
              <a:off x="6548232" y="4814240"/>
              <a:ext cx="7092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 err="1" smtClean="0"/>
                <a:t>Ratas</a:t>
              </a:r>
              <a:endParaRPr lang="es-ES" b="1" dirty="0"/>
            </a:p>
          </p:txBody>
        </p:sp>
        <p:sp>
          <p:nvSpPr>
            <p:cNvPr id="13" name="CuadroTexto 12"/>
            <p:cNvSpPr txBox="1"/>
            <p:nvPr/>
          </p:nvSpPr>
          <p:spPr>
            <a:xfrm>
              <a:off x="6748673" y="3560895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 err="1" smtClean="0"/>
                <a:t>Osos</a:t>
              </a:r>
              <a:endParaRPr lang="es-ES" b="1" dirty="0"/>
            </a:p>
          </p:txBody>
        </p:sp>
        <p:sp>
          <p:nvSpPr>
            <p:cNvPr id="14" name="CuadroTexto 13"/>
            <p:cNvSpPr txBox="1"/>
            <p:nvPr/>
          </p:nvSpPr>
          <p:spPr>
            <a:xfrm>
              <a:off x="6186696" y="4243534"/>
              <a:ext cx="7894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 smtClean="0"/>
                <a:t>Gatos </a:t>
              </a:r>
              <a:endParaRPr lang="es-ES" b="1" dirty="0"/>
            </a:p>
          </p:txBody>
        </p:sp>
        <p:sp>
          <p:nvSpPr>
            <p:cNvPr id="15" name="CuadroTexto 14"/>
            <p:cNvSpPr txBox="1"/>
            <p:nvPr/>
          </p:nvSpPr>
          <p:spPr>
            <a:xfrm>
              <a:off x="6031653" y="3854833"/>
              <a:ext cx="9428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 smtClean="0"/>
                <a:t>Conejos</a:t>
              </a:r>
              <a:endParaRPr lang="es-ES" b="1" dirty="0"/>
            </a:p>
          </p:txBody>
        </p:sp>
        <p:sp>
          <p:nvSpPr>
            <p:cNvPr id="16" name="CuadroTexto 15"/>
            <p:cNvSpPr txBox="1"/>
            <p:nvPr/>
          </p:nvSpPr>
          <p:spPr>
            <a:xfrm>
              <a:off x="7067831" y="4331211"/>
              <a:ext cx="8339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 err="1" smtClean="0"/>
                <a:t>Cerdos</a:t>
              </a:r>
              <a:endParaRPr lang="es-ES" b="1" dirty="0"/>
            </a:p>
          </p:txBody>
        </p:sp>
        <p:sp>
          <p:nvSpPr>
            <p:cNvPr id="17" name="CuadroTexto 16"/>
            <p:cNvSpPr txBox="1"/>
            <p:nvPr/>
          </p:nvSpPr>
          <p:spPr>
            <a:xfrm>
              <a:off x="6894577" y="5193257"/>
              <a:ext cx="7457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 err="1" smtClean="0"/>
                <a:t>Sapos</a:t>
              </a:r>
              <a:endParaRPr lang="es-ES" b="1" dirty="0"/>
            </a:p>
          </p:txBody>
        </p:sp>
        <p:sp>
          <p:nvSpPr>
            <p:cNvPr id="18" name="CuadroTexto 17"/>
            <p:cNvSpPr txBox="1"/>
            <p:nvPr/>
          </p:nvSpPr>
          <p:spPr>
            <a:xfrm>
              <a:off x="7720510" y="3759148"/>
              <a:ext cx="10559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 err="1" smtClean="0"/>
                <a:t>Elefantes</a:t>
              </a:r>
              <a:endParaRPr lang="es-ES" b="1" dirty="0"/>
            </a:p>
          </p:txBody>
        </p:sp>
        <p:sp>
          <p:nvSpPr>
            <p:cNvPr id="19" name="CuadroTexto 18"/>
            <p:cNvSpPr txBox="1"/>
            <p:nvPr/>
          </p:nvSpPr>
          <p:spPr>
            <a:xfrm>
              <a:off x="7663889" y="4919087"/>
              <a:ext cx="7952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 err="1" smtClean="0"/>
                <a:t>Perros</a:t>
              </a:r>
              <a:endParaRPr lang="es-ES" b="1" dirty="0"/>
            </a:p>
          </p:txBody>
        </p:sp>
        <p:sp>
          <p:nvSpPr>
            <p:cNvPr id="20" name="CuadroTexto 19"/>
            <p:cNvSpPr txBox="1"/>
            <p:nvPr/>
          </p:nvSpPr>
          <p:spPr>
            <a:xfrm>
              <a:off x="8055021" y="4515877"/>
              <a:ext cx="14368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 err="1" smtClean="0"/>
                <a:t>Rinocerontes</a:t>
              </a:r>
              <a:endParaRPr lang="es-ES" b="1" dirty="0"/>
            </a:p>
          </p:txBody>
        </p:sp>
      </p:grpSp>
      <p:sp>
        <p:nvSpPr>
          <p:cNvPr id="21" name="CuadroTexto 20"/>
          <p:cNvSpPr txBox="1"/>
          <p:nvPr/>
        </p:nvSpPr>
        <p:spPr>
          <a:xfrm>
            <a:off x="351698" y="3884435"/>
            <a:ext cx="3030317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 smtClean="0"/>
          </a:p>
          <a:p>
            <a:r>
              <a:rPr lang="en-US" b="1" dirty="0" smtClean="0"/>
              <a:t>DE LO CONTRARIO,</a:t>
            </a:r>
          </a:p>
          <a:p>
            <a:r>
              <a:rPr lang="en-US" b="1" dirty="0" smtClean="0"/>
              <a:t>EL ANIMAL NO ES MAMIFERO</a:t>
            </a:r>
            <a:endParaRPr lang="es-ES" b="1" dirty="0"/>
          </a:p>
        </p:txBody>
      </p:sp>
      <p:sp>
        <p:nvSpPr>
          <p:cNvPr id="38" name="Elipse 37"/>
          <p:cNvSpPr/>
          <p:nvPr/>
        </p:nvSpPr>
        <p:spPr>
          <a:xfrm>
            <a:off x="5886317" y="3414713"/>
            <a:ext cx="3686308" cy="2214518"/>
          </a:xfrm>
          <a:prstGeom prst="ellipse">
            <a:avLst/>
          </a:prstGeom>
          <a:solidFill>
            <a:srgbClr val="92D050">
              <a:alpha val="48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b="1"/>
          </a:p>
        </p:txBody>
      </p:sp>
      <p:grpSp>
        <p:nvGrpSpPr>
          <p:cNvPr id="43" name="Grupo 42"/>
          <p:cNvGrpSpPr/>
          <p:nvPr/>
        </p:nvGrpSpPr>
        <p:grpSpPr>
          <a:xfrm>
            <a:off x="8958263" y="2896660"/>
            <a:ext cx="2399504" cy="1182009"/>
            <a:chOff x="8958263" y="2896660"/>
            <a:chExt cx="2399504" cy="1182009"/>
          </a:xfrm>
        </p:grpSpPr>
        <p:sp>
          <p:nvSpPr>
            <p:cNvPr id="39" name="CuadroTexto 38"/>
            <p:cNvSpPr txBox="1"/>
            <p:nvPr/>
          </p:nvSpPr>
          <p:spPr>
            <a:xfrm>
              <a:off x="9774320" y="2896660"/>
              <a:ext cx="15834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¿MAMIFEROS?</a:t>
              </a:r>
              <a:endParaRPr lang="es-ES" dirty="0"/>
            </a:p>
          </p:txBody>
        </p:sp>
        <p:cxnSp>
          <p:nvCxnSpPr>
            <p:cNvPr id="41" name="Conector recto de flecha 40"/>
            <p:cNvCxnSpPr/>
            <p:nvPr/>
          </p:nvCxnSpPr>
          <p:spPr>
            <a:xfrm flipH="1">
              <a:off x="8958263" y="3227169"/>
              <a:ext cx="1300162" cy="851500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Elipse 41"/>
          <p:cNvSpPr/>
          <p:nvPr/>
        </p:nvSpPr>
        <p:spPr>
          <a:xfrm>
            <a:off x="5943664" y="3414713"/>
            <a:ext cx="3578811" cy="1873706"/>
          </a:xfrm>
          <a:prstGeom prst="ellipse">
            <a:avLst/>
          </a:prstGeom>
          <a:solidFill>
            <a:srgbClr val="FFFF00">
              <a:alpha val="17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4" name="Elipse 43"/>
          <p:cNvSpPr/>
          <p:nvPr/>
        </p:nvSpPr>
        <p:spPr>
          <a:xfrm>
            <a:off x="4718747" y="3551001"/>
            <a:ext cx="1256370" cy="534197"/>
          </a:xfrm>
          <a:prstGeom prst="ellipse">
            <a:avLst/>
          </a:prstGeom>
          <a:solidFill>
            <a:srgbClr val="92D050">
              <a:alpha val="32000"/>
            </a:srgbClr>
          </a:solidFill>
          <a:ln>
            <a:solidFill>
              <a:schemeClr val="accent1">
                <a:shade val="50000"/>
                <a:alpha val="48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5" name="Elipse 44"/>
          <p:cNvSpPr/>
          <p:nvPr/>
        </p:nvSpPr>
        <p:spPr>
          <a:xfrm rot="1587947">
            <a:off x="2788973" y="4104599"/>
            <a:ext cx="2802208" cy="1800733"/>
          </a:xfrm>
          <a:prstGeom prst="ellipse">
            <a:avLst/>
          </a:prstGeom>
          <a:solidFill>
            <a:schemeClr val="accent1">
              <a:alpha val="2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7" name="Rectángulo 46"/>
          <p:cNvSpPr/>
          <p:nvPr/>
        </p:nvSpPr>
        <p:spPr>
          <a:xfrm>
            <a:off x="9281532" y="1822004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smtClean="0"/>
              <a:t>¿La </a:t>
            </a:r>
            <a:r>
              <a:rPr lang="en-US" b="1" dirty="0" err="1" smtClean="0"/>
              <a:t>especie</a:t>
            </a:r>
            <a:r>
              <a:rPr lang="en-US" b="1" dirty="0" smtClean="0"/>
              <a:t> se </a:t>
            </a:r>
            <a:r>
              <a:rPr lang="en-US" b="1" dirty="0" err="1" smtClean="0"/>
              <a:t>traslada</a:t>
            </a:r>
            <a:endParaRPr lang="en-US" b="1" dirty="0" smtClean="0"/>
          </a:p>
          <a:p>
            <a:r>
              <a:rPr lang="en-US" b="1" dirty="0" err="1" smtClean="0"/>
              <a:t>por</a:t>
            </a:r>
            <a:r>
              <a:rPr lang="en-US" b="1" dirty="0" smtClean="0"/>
              <a:t> </a:t>
            </a:r>
            <a:r>
              <a:rPr lang="en-US" b="1" dirty="0" err="1" smtClean="0"/>
              <a:t>tierra</a:t>
            </a:r>
            <a:r>
              <a:rPr lang="en-US" b="1" dirty="0" smtClean="0"/>
              <a:t>, mar o </a:t>
            </a:r>
            <a:r>
              <a:rPr lang="en-US" b="1" dirty="0" err="1" smtClean="0"/>
              <a:t>aire</a:t>
            </a:r>
            <a:r>
              <a:rPr lang="en-US" b="1" dirty="0" smtClean="0"/>
              <a:t>?</a:t>
            </a:r>
          </a:p>
        </p:txBody>
      </p:sp>
      <p:sp>
        <p:nvSpPr>
          <p:cNvPr id="48" name="Rectángulo 47"/>
          <p:cNvSpPr/>
          <p:nvPr/>
        </p:nvSpPr>
        <p:spPr>
          <a:xfrm>
            <a:off x="160775" y="899495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b="1" dirty="0" smtClean="0"/>
          </a:p>
          <a:p>
            <a:r>
              <a:rPr lang="en-US" b="1" dirty="0" smtClean="0"/>
              <a:t>PRIMERA REGLA:</a:t>
            </a:r>
          </a:p>
          <a:p>
            <a:r>
              <a:rPr lang="en-US" b="1" dirty="0" err="1" smtClean="0"/>
              <a:t>Animales</a:t>
            </a:r>
            <a:r>
              <a:rPr lang="en-US" b="1" dirty="0" smtClean="0"/>
              <a:t> </a:t>
            </a:r>
            <a:r>
              <a:rPr lang="en-US" b="1" dirty="0" err="1" smtClean="0"/>
              <a:t>terrestres</a:t>
            </a:r>
            <a:r>
              <a:rPr lang="en-US" b="1" dirty="0" smtClean="0"/>
              <a:t> </a:t>
            </a:r>
          </a:p>
          <a:p>
            <a:r>
              <a:rPr lang="en-US" b="1" dirty="0" smtClean="0"/>
              <a:t>son </a:t>
            </a:r>
            <a:r>
              <a:rPr lang="en-US" b="1" dirty="0" err="1" smtClean="0"/>
              <a:t>mamíferos</a:t>
            </a:r>
            <a:endParaRPr lang="en-US" b="1" dirty="0" smtClean="0"/>
          </a:p>
        </p:txBody>
      </p:sp>
      <p:sp>
        <p:nvSpPr>
          <p:cNvPr id="49" name="Rectángulo 48"/>
          <p:cNvSpPr/>
          <p:nvPr/>
        </p:nvSpPr>
        <p:spPr>
          <a:xfrm>
            <a:off x="84478" y="2327700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b="1" dirty="0" smtClean="0"/>
          </a:p>
          <a:p>
            <a:r>
              <a:rPr lang="en-US" b="1" dirty="0" smtClean="0"/>
              <a:t>REGLA MAS ESPECIFICA</a:t>
            </a:r>
          </a:p>
          <a:p>
            <a:r>
              <a:rPr lang="en-US" b="1" dirty="0" err="1" smtClean="0"/>
              <a:t>Animales</a:t>
            </a:r>
            <a:r>
              <a:rPr lang="en-US" b="1" dirty="0" smtClean="0"/>
              <a:t> </a:t>
            </a:r>
            <a:r>
              <a:rPr lang="en-US" b="1" dirty="0" err="1" smtClean="0"/>
              <a:t>terrestres</a:t>
            </a:r>
            <a:r>
              <a:rPr lang="en-US" b="1" dirty="0" smtClean="0"/>
              <a:t> </a:t>
            </a:r>
          </a:p>
          <a:p>
            <a:r>
              <a:rPr lang="en-US" b="1" dirty="0" smtClean="0"/>
              <a:t>con cola</a:t>
            </a:r>
          </a:p>
        </p:txBody>
      </p:sp>
      <p:sp>
        <p:nvSpPr>
          <p:cNvPr id="50" name="Rectángulo 49"/>
          <p:cNvSpPr/>
          <p:nvPr/>
        </p:nvSpPr>
        <p:spPr>
          <a:xfrm>
            <a:off x="160775" y="3386515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b="1" dirty="0" smtClean="0"/>
          </a:p>
          <a:p>
            <a:r>
              <a:rPr lang="en-US" b="1" dirty="0" smtClean="0"/>
              <a:t>REGLA ADICIONAL</a:t>
            </a:r>
          </a:p>
          <a:p>
            <a:r>
              <a:rPr lang="en-US" b="1" dirty="0" err="1" smtClean="0"/>
              <a:t>Presencia</a:t>
            </a:r>
            <a:r>
              <a:rPr lang="en-US" b="1" dirty="0" smtClean="0"/>
              <a:t> de </a:t>
            </a:r>
            <a:r>
              <a:rPr lang="en-US" b="1" dirty="0" err="1" smtClean="0"/>
              <a:t>pelaje</a:t>
            </a: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1443385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38" grpId="0" animBg="1"/>
      <p:bldP spid="42" grpId="0" animBg="1"/>
      <p:bldP spid="44" grpId="0" animBg="1"/>
      <p:bldP spid="45" grpId="0" animBg="1"/>
      <p:bldP spid="47" grpId="0"/>
      <p:bldP spid="48" grpId="0"/>
      <p:bldP spid="49" grpId="0"/>
      <p:bldP spid="5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4302" y="1954306"/>
            <a:ext cx="8282806" cy="4703704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441" y="249057"/>
            <a:ext cx="10204527" cy="1454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33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00" y="1409472"/>
            <a:ext cx="11465556" cy="3323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334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696603" y="222729"/>
            <a:ext cx="931678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Las </a:t>
            </a:r>
            <a:r>
              <a:rPr lang="en-US" sz="36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reglas</a:t>
            </a:r>
            <a:r>
              <a:rPr lang="en-US" sz="3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son </a:t>
            </a:r>
            <a:r>
              <a:rPr lang="en-US" sz="36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mutuamente</a:t>
            </a:r>
            <a:r>
              <a:rPr lang="en-US" sz="3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36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excluyentes</a:t>
            </a:r>
            <a:endParaRPr lang="en-US" sz="36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3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</a:t>
            </a:r>
            <a:r>
              <a:rPr lang="en-US" sz="36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ada</a:t>
            </a:r>
            <a:r>
              <a:rPr lang="en-US" sz="3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36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registro</a:t>
            </a:r>
            <a:r>
              <a:rPr lang="en-US" sz="3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36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es</a:t>
            </a:r>
            <a:r>
              <a:rPr lang="en-US" sz="3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36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construido</a:t>
            </a:r>
            <a:r>
              <a:rPr lang="en-US" sz="3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36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por</a:t>
            </a:r>
            <a:r>
              <a:rPr lang="en-US" sz="3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mas de </a:t>
            </a:r>
            <a:r>
              <a:rPr lang="en-US" sz="36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una</a:t>
            </a:r>
            <a:r>
              <a:rPr lang="en-US" sz="3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36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regla</a:t>
            </a:r>
            <a:endParaRPr lang="es-ES" sz="3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142" y="1852209"/>
            <a:ext cx="11166674" cy="3762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0718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-600636"/>
            <a:ext cx="3932237" cy="1600200"/>
          </a:xfrm>
        </p:spPr>
        <p:txBody>
          <a:bodyPr/>
          <a:lstStyle/>
          <a:p>
            <a:r>
              <a:rPr lang="en-US" dirty="0" smtClean="0"/>
              <a:t>FORTALEZAS</a:t>
            </a:r>
            <a:endParaRPr lang="es-ES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7" y="1376082"/>
            <a:ext cx="3932237" cy="3811588"/>
          </a:xfrm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 smtClean="0"/>
              <a:t>Genera una regla fácil de entender por cualquier sujeto</a:t>
            </a:r>
            <a:r>
              <a:rPr lang="es-ES" sz="24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r>
              <a:rPr lang="es-ES" sz="2400" dirty="0" smtClean="0">
                <a:solidFill>
                  <a:schemeClr val="accent1">
                    <a:lumMod val="75000"/>
                  </a:schemeClr>
                </a:solidFill>
              </a:rPr>
              <a:t>(Regla del Pulgar:</a:t>
            </a:r>
          </a:p>
          <a:p>
            <a:r>
              <a:rPr lang="es-ES" sz="2400" i="1" dirty="0" smtClean="0">
                <a:solidFill>
                  <a:schemeClr val="accent1">
                    <a:lumMod val="75000"/>
                  </a:schemeClr>
                </a:solidFill>
              </a:rPr>
              <a:t>criterio de amplia aplicación que no necesariamente es estrictamente preciso ni fiable en cada situación</a:t>
            </a:r>
          </a:p>
          <a:p>
            <a:r>
              <a:rPr lang="es-ES" sz="2400" dirty="0" smtClean="0"/>
              <a:t>• A menudo se lleva a cabo sorprendentemente bien</a:t>
            </a:r>
          </a:p>
          <a:p>
            <a:r>
              <a:rPr lang="es-ES" sz="2400" dirty="0" smtClean="0"/>
              <a:t/>
            </a:r>
            <a:br>
              <a:rPr lang="es-ES" sz="2400" dirty="0" smtClean="0"/>
            </a:br>
            <a:r>
              <a:rPr lang="es-ES" sz="2400" dirty="0" smtClean="0"/>
              <a:t>• Puede servir como punto de referencia para obtener algoritmos más complejos</a:t>
            </a:r>
            <a:endParaRPr lang="es-ES" sz="2400" dirty="0"/>
          </a:p>
        </p:txBody>
      </p:sp>
      <p:sp>
        <p:nvSpPr>
          <p:cNvPr id="5" name="Marcador de texto 3"/>
          <p:cNvSpPr txBox="1">
            <a:spLocks/>
          </p:cNvSpPr>
          <p:nvPr/>
        </p:nvSpPr>
        <p:spPr>
          <a:xfrm>
            <a:off x="6586162" y="1824317"/>
            <a:ext cx="3932237" cy="38115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 smtClean="0"/>
              <a:t>Utiliza un atributo único.</a:t>
            </a:r>
          </a:p>
          <a:p>
            <a:r>
              <a:rPr lang="es-ES" sz="2400" dirty="0" smtClean="0"/>
              <a:t/>
            </a:r>
            <a:br>
              <a:rPr lang="es-ES" sz="2400" dirty="0" smtClean="0"/>
            </a:br>
            <a:r>
              <a:rPr lang="es-ES" sz="2400" dirty="0" smtClean="0"/>
              <a:t>• Probablemente </a:t>
            </a:r>
            <a:r>
              <a:rPr lang="es-ES" sz="2400" dirty="0" err="1" smtClean="0"/>
              <a:t>sobresimplifica</a:t>
            </a:r>
            <a:r>
              <a:rPr lang="es-ES" sz="2400" dirty="0" smtClean="0"/>
              <a:t> el análisis</a:t>
            </a:r>
            <a:endParaRPr lang="es-ES" sz="2400" dirty="0"/>
          </a:p>
        </p:txBody>
      </p:sp>
      <p:sp>
        <p:nvSpPr>
          <p:cNvPr id="6" name="Título 1"/>
          <p:cNvSpPr txBox="1">
            <a:spLocks/>
          </p:cNvSpPr>
          <p:nvPr/>
        </p:nvSpPr>
        <p:spPr>
          <a:xfrm>
            <a:off x="6944753" y="-600636"/>
            <a:ext cx="3932237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DEBILIDADES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28126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355" y="601069"/>
            <a:ext cx="12179484" cy="4948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145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267521" y="2086589"/>
            <a:ext cx="8713989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LENTOS</a:t>
            </a:r>
          </a:p>
          <a:p>
            <a:endParaRPr lang="en-US" sz="2800" dirty="0" smtClean="0"/>
          </a:p>
          <a:p>
            <a:r>
              <a:rPr lang="en-US" sz="2800" dirty="0" smtClean="0"/>
              <a:t>PROPENSOS A SER INEXACTOS  CON LOS DATOS RUIDOSOS</a:t>
            </a:r>
            <a:endParaRPr lang="es-ES" sz="2800" dirty="0"/>
          </a:p>
        </p:txBody>
      </p:sp>
      <p:sp>
        <p:nvSpPr>
          <p:cNvPr id="3" name="CuadroTexto 2"/>
          <p:cNvSpPr txBox="1"/>
          <p:nvPr/>
        </p:nvSpPr>
        <p:spPr>
          <a:xfrm>
            <a:off x="817756" y="0"/>
            <a:ext cx="9876806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RIPPER</a:t>
            </a:r>
          </a:p>
          <a:p>
            <a:r>
              <a:rPr lang="en-US" sz="3200" dirty="0" smtClean="0"/>
              <a:t>Repeated Incremental Pruning to Produce Error Reduction</a:t>
            </a:r>
            <a:endParaRPr lang="es-ES" sz="3200" dirty="0"/>
          </a:p>
        </p:txBody>
      </p:sp>
    </p:spTree>
    <p:extLst>
      <p:ext uri="{BB962C8B-B14F-4D97-AF65-F5344CB8AC3E}">
        <p14:creationId xmlns:p14="http://schemas.microsoft.com/office/powerpoint/2010/main" val="2032760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ttp://image.slidesharecdn.com/machine-learning-and-data-mining-12-classification-rules-2747/95/machine-learning-and-data-mining-12-classification-rules-59-728.jpg?cb=117627317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5617" y="375171"/>
            <a:ext cx="7620760" cy="589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ángulo 1"/>
          <p:cNvSpPr/>
          <p:nvPr/>
        </p:nvSpPr>
        <p:spPr>
          <a:xfrm>
            <a:off x="1854558" y="5602310"/>
            <a:ext cx="7186411" cy="5022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Rectángulo 2"/>
          <p:cNvSpPr/>
          <p:nvPr/>
        </p:nvSpPr>
        <p:spPr>
          <a:xfrm>
            <a:off x="6851561" y="515155"/>
            <a:ext cx="2215166" cy="6568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CuadroTexto 3"/>
          <p:cNvSpPr txBox="1"/>
          <p:nvPr/>
        </p:nvSpPr>
        <p:spPr>
          <a:xfrm>
            <a:off x="412124" y="1545465"/>
            <a:ext cx="1243610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RIPPER: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CRECER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PODAR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OPTIMIZAR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69558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s-media-cache-ak0.pinimg.com/736x/59/de/de/59dede6e418ea2f95a9a5840b9226adc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1198" y="770586"/>
            <a:ext cx="7010400" cy="541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47082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://image.slidesharecdn.com/machine-learning-and-data-mining-12-classification-rules-2747/95/machine-learning-and-data-mining-12-classification-rules-51-728.jpg?cb=117627317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7285" y="375734"/>
            <a:ext cx="7491970" cy="5790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ángulo 1"/>
          <p:cNvSpPr/>
          <p:nvPr/>
        </p:nvSpPr>
        <p:spPr>
          <a:xfrm>
            <a:off x="2060620" y="5422006"/>
            <a:ext cx="6980349" cy="7445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Rectángulo 2"/>
          <p:cNvSpPr/>
          <p:nvPr/>
        </p:nvSpPr>
        <p:spPr>
          <a:xfrm>
            <a:off x="6903076" y="476518"/>
            <a:ext cx="2137893" cy="6954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702158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1"/>
          <p:cNvSpPr txBox="1">
            <a:spLocks/>
          </p:cNvSpPr>
          <p:nvPr/>
        </p:nvSpPr>
        <p:spPr>
          <a:xfrm>
            <a:off x="828637" y="235706"/>
            <a:ext cx="3932237" cy="1600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FORTALEZAS</a:t>
            </a:r>
            <a:endParaRPr lang="es-ES" dirty="0"/>
          </a:p>
        </p:txBody>
      </p:sp>
      <p:sp>
        <p:nvSpPr>
          <p:cNvPr id="9" name="Marcador de texto 3"/>
          <p:cNvSpPr txBox="1">
            <a:spLocks/>
          </p:cNvSpPr>
          <p:nvPr/>
        </p:nvSpPr>
        <p:spPr>
          <a:xfrm>
            <a:off x="828636" y="2212424"/>
            <a:ext cx="3932237" cy="381158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s-ES" sz="2400" smtClean="0"/>
              <a:t>Genera una regla fácil de entender por cualquier sujeto</a:t>
            </a:r>
            <a:r>
              <a:rPr lang="es-ES" sz="240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r>
              <a:rPr lang="es-ES" sz="2400" smtClean="0">
                <a:solidFill>
                  <a:schemeClr val="accent1">
                    <a:lumMod val="75000"/>
                  </a:schemeClr>
                </a:solidFill>
              </a:rPr>
              <a:t>(Regla del Pulgar:</a:t>
            </a:r>
          </a:p>
          <a:p>
            <a:r>
              <a:rPr lang="es-ES" sz="2400" i="1" smtClean="0">
                <a:solidFill>
                  <a:schemeClr val="accent1">
                    <a:lumMod val="75000"/>
                  </a:schemeClr>
                </a:solidFill>
              </a:rPr>
              <a:t>criterio de amplia aplicación que no necesariamente es estrictamente preciso ni fiable en cada situación</a:t>
            </a:r>
          </a:p>
          <a:p>
            <a:r>
              <a:rPr lang="es-ES" sz="2400" smtClean="0"/>
              <a:t>• Muy eficiente con grandes grupos grandes y ruidosos</a:t>
            </a:r>
          </a:p>
          <a:p>
            <a:r>
              <a:rPr lang="en-US" sz="2400" smtClean="0"/>
              <a:t>Generalmente produc un modelo más simple comparable al árbol de decisión</a:t>
            </a:r>
            <a:endParaRPr lang="es-ES" sz="2400" dirty="0" smtClean="0"/>
          </a:p>
        </p:txBody>
      </p:sp>
      <p:sp>
        <p:nvSpPr>
          <p:cNvPr id="10" name="Marcador de texto 3"/>
          <p:cNvSpPr txBox="1">
            <a:spLocks/>
          </p:cNvSpPr>
          <p:nvPr/>
        </p:nvSpPr>
        <p:spPr>
          <a:xfrm>
            <a:off x="6646729" y="2696518"/>
            <a:ext cx="3932237" cy="38115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 smtClean="0"/>
              <a:t>Puede producir reglas que desafíen el sentido común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No </a:t>
            </a:r>
            <a:r>
              <a:rPr lang="en-US" sz="2400" dirty="0" err="1" smtClean="0"/>
              <a:t>es</a:t>
            </a:r>
            <a:r>
              <a:rPr lang="en-US" sz="2400" dirty="0" smtClean="0"/>
              <a:t> ideal para </a:t>
            </a:r>
            <a:r>
              <a:rPr lang="en-US" sz="2400" dirty="0" err="1" smtClean="0"/>
              <a:t>trabajar</a:t>
            </a:r>
            <a:r>
              <a:rPr lang="en-US" sz="2400" dirty="0" smtClean="0"/>
              <a:t> con </a:t>
            </a:r>
            <a:r>
              <a:rPr lang="en-US" sz="2400" dirty="0" err="1" smtClean="0"/>
              <a:t>datos</a:t>
            </a:r>
            <a:r>
              <a:rPr lang="en-US" sz="2400" dirty="0" smtClean="0"/>
              <a:t> </a:t>
            </a:r>
            <a:r>
              <a:rPr lang="en-US" sz="2400" dirty="0" err="1" smtClean="0"/>
              <a:t>númericos</a:t>
            </a:r>
            <a:endParaRPr lang="en-US" sz="24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No se </a:t>
            </a:r>
            <a:r>
              <a:rPr lang="en-US" sz="2400" dirty="0" err="1" smtClean="0"/>
              <a:t>desarrollaría</a:t>
            </a:r>
            <a:r>
              <a:rPr lang="en-US" sz="2400" dirty="0" smtClean="0"/>
              <a:t> </a:t>
            </a:r>
            <a:r>
              <a:rPr lang="en-US" sz="2400" dirty="0" err="1" smtClean="0"/>
              <a:t>muy</a:t>
            </a:r>
            <a:r>
              <a:rPr lang="en-US" sz="2400" dirty="0" smtClean="0"/>
              <a:t> </a:t>
            </a:r>
            <a:r>
              <a:rPr lang="en-US" sz="2400" dirty="0" err="1" smtClean="0"/>
              <a:t>bien</a:t>
            </a:r>
            <a:r>
              <a:rPr lang="en-US" sz="2400" dirty="0" smtClean="0"/>
              <a:t> con </a:t>
            </a:r>
            <a:r>
              <a:rPr lang="en-US" sz="2400" dirty="0" err="1" smtClean="0"/>
              <a:t>modelos</a:t>
            </a:r>
            <a:r>
              <a:rPr lang="en-US" sz="2400" dirty="0" smtClean="0"/>
              <a:t> </a:t>
            </a:r>
            <a:r>
              <a:rPr lang="en-US" sz="2400" dirty="0" err="1" smtClean="0"/>
              <a:t>complejos</a:t>
            </a:r>
            <a:r>
              <a:rPr lang="en-US" sz="2400" dirty="0" smtClean="0"/>
              <a:t>.</a:t>
            </a:r>
            <a:endParaRPr lang="es-ES" sz="2400" dirty="0" smtClean="0"/>
          </a:p>
        </p:txBody>
      </p:sp>
      <p:sp>
        <p:nvSpPr>
          <p:cNvPr id="11" name="Título 1"/>
          <p:cNvSpPr txBox="1">
            <a:spLocks/>
          </p:cNvSpPr>
          <p:nvPr/>
        </p:nvSpPr>
        <p:spPr>
          <a:xfrm>
            <a:off x="6933602" y="235706"/>
            <a:ext cx="3932237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DEBILIDADES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67835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193274" y="376518"/>
            <a:ext cx="94537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CONSTRUCCION DE REGLAS A PARTIR DE ARBOLES DE DECISION</a:t>
            </a:r>
            <a:endParaRPr lang="es-ES" sz="2800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8741" y="1785376"/>
            <a:ext cx="9058275" cy="482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190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mbo 1"/>
          <p:cNvSpPr/>
          <p:nvPr/>
        </p:nvSpPr>
        <p:spPr>
          <a:xfrm>
            <a:off x="4346368" y="451264"/>
            <a:ext cx="3384467" cy="1959428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¿ES UNA ANIMAL TERRESTRE</a:t>
            </a:r>
            <a:endParaRPr lang="es-ES" b="1" dirty="0"/>
          </a:p>
        </p:txBody>
      </p:sp>
      <p:cxnSp>
        <p:nvCxnSpPr>
          <p:cNvPr id="6" name="Conector angular 5"/>
          <p:cNvCxnSpPr>
            <a:stCxn id="2" idx="1"/>
          </p:cNvCxnSpPr>
          <p:nvPr/>
        </p:nvCxnSpPr>
        <p:spPr>
          <a:xfrm rot="10800000" flipV="1">
            <a:off x="3249476" y="1430977"/>
            <a:ext cx="1096892" cy="245225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angular 8"/>
          <p:cNvCxnSpPr>
            <a:stCxn id="2" idx="3"/>
          </p:cNvCxnSpPr>
          <p:nvPr/>
        </p:nvCxnSpPr>
        <p:spPr>
          <a:xfrm>
            <a:off x="7730835" y="1430978"/>
            <a:ext cx="1476295" cy="253538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ombo 10"/>
          <p:cNvSpPr/>
          <p:nvPr/>
        </p:nvSpPr>
        <p:spPr>
          <a:xfrm>
            <a:off x="1421612" y="3246694"/>
            <a:ext cx="3384467" cy="2054431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¿TIENE PELAJE?</a:t>
            </a:r>
            <a:endParaRPr lang="es-ES" b="1" dirty="0"/>
          </a:p>
        </p:txBody>
      </p:sp>
      <p:sp>
        <p:nvSpPr>
          <p:cNvPr id="12" name="Rombo 11"/>
          <p:cNvSpPr/>
          <p:nvPr/>
        </p:nvSpPr>
        <p:spPr>
          <a:xfrm>
            <a:off x="7514897" y="3811978"/>
            <a:ext cx="3384467" cy="1959428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¿TIENE PELAJE?</a:t>
            </a:r>
            <a:endParaRPr lang="es-ES" b="1" dirty="0"/>
          </a:p>
        </p:txBody>
      </p:sp>
      <p:sp>
        <p:nvSpPr>
          <p:cNvPr id="13" name="CuadroTexto 12"/>
          <p:cNvSpPr txBox="1"/>
          <p:nvPr/>
        </p:nvSpPr>
        <p:spPr>
          <a:xfrm>
            <a:off x="213755" y="5972082"/>
            <a:ext cx="1531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ES MAMIFERO</a:t>
            </a:r>
            <a:endParaRPr lang="es-ES" dirty="0"/>
          </a:p>
        </p:txBody>
      </p:sp>
      <p:cxnSp>
        <p:nvCxnSpPr>
          <p:cNvPr id="15" name="Conector angular 14"/>
          <p:cNvCxnSpPr>
            <a:stCxn id="11" idx="1"/>
          </p:cNvCxnSpPr>
          <p:nvPr/>
        </p:nvCxnSpPr>
        <p:spPr>
          <a:xfrm rot="10800000" flipV="1">
            <a:off x="756696" y="4273910"/>
            <a:ext cx="664916" cy="169817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uadroTexto 16"/>
          <p:cNvSpPr txBox="1"/>
          <p:nvPr/>
        </p:nvSpPr>
        <p:spPr>
          <a:xfrm>
            <a:off x="4187253" y="5952461"/>
            <a:ext cx="1885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NO ES MAMIFERO</a:t>
            </a:r>
            <a:endParaRPr lang="es-ES" dirty="0"/>
          </a:p>
        </p:txBody>
      </p:sp>
      <p:cxnSp>
        <p:nvCxnSpPr>
          <p:cNvPr id="19" name="Conector angular 18"/>
          <p:cNvCxnSpPr>
            <a:stCxn id="11" idx="3"/>
          </p:cNvCxnSpPr>
          <p:nvPr/>
        </p:nvCxnSpPr>
        <p:spPr>
          <a:xfrm>
            <a:off x="4806079" y="4273910"/>
            <a:ext cx="324061" cy="169817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uadroTexto 21"/>
          <p:cNvSpPr txBox="1"/>
          <p:nvPr/>
        </p:nvSpPr>
        <p:spPr>
          <a:xfrm>
            <a:off x="6303817" y="5972082"/>
            <a:ext cx="1531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ES MAMIFERO</a:t>
            </a:r>
            <a:endParaRPr lang="es-ES" dirty="0"/>
          </a:p>
        </p:txBody>
      </p:sp>
      <p:sp>
        <p:nvSpPr>
          <p:cNvPr id="23" name="CuadroTexto 22"/>
          <p:cNvSpPr txBox="1"/>
          <p:nvPr/>
        </p:nvSpPr>
        <p:spPr>
          <a:xfrm>
            <a:off x="10306227" y="5952461"/>
            <a:ext cx="1885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NO ES MAMIFERO</a:t>
            </a:r>
            <a:endParaRPr lang="es-ES" dirty="0"/>
          </a:p>
        </p:txBody>
      </p:sp>
      <p:cxnSp>
        <p:nvCxnSpPr>
          <p:cNvPr id="25" name="Conector angular 24"/>
          <p:cNvCxnSpPr>
            <a:stCxn id="12" idx="1"/>
            <a:endCxn id="22" idx="0"/>
          </p:cNvCxnSpPr>
          <p:nvPr/>
        </p:nvCxnSpPr>
        <p:spPr>
          <a:xfrm rot="10800000" flipV="1">
            <a:off x="7069573" y="4791692"/>
            <a:ext cx="445325" cy="118039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angular 26"/>
          <p:cNvCxnSpPr>
            <a:stCxn id="12" idx="3"/>
          </p:cNvCxnSpPr>
          <p:nvPr/>
        </p:nvCxnSpPr>
        <p:spPr>
          <a:xfrm>
            <a:off x="10899364" y="4791692"/>
            <a:ext cx="453446" cy="134543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uadroTexto 27"/>
          <p:cNvSpPr txBox="1"/>
          <p:nvPr/>
        </p:nvSpPr>
        <p:spPr>
          <a:xfrm>
            <a:off x="3084265" y="2109643"/>
            <a:ext cx="348172" cy="369332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en-US" dirty="0" smtClean="0"/>
              <a:t>SI</a:t>
            </a:r>
            <a:endParaRPr lang="es-ES" dirty="0"/>
          </a:p>
        </p:txBody>
      </p:sp>
      <p:sp>
        <p:nvSpPr>
          <p:cNvPr id="29" name="CuadroTexto 28"/>
          <p:cNvSpPr txBox="1"/>
          <p:nvPr/>
        </p:nvSpPr>
        <p:spPr>
          <a:xfrm>
            <a:off x="9033044" y="2329336"/>
            <a:ext cx="486030" cy="369332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en-US" dirty="0" smtClean="0"/>
              <a:t>NO</a:t>
            </a:r>
            <a:endParaRPr lang="es-ES" dirty="0"/>
          </a:p>
        </p:txBody>
      </p:sp>
      <p:sp>
        <p:nvSpPr>
          <p:cNvPr id="30" name="CuadroTexto 29"/>
          <p:cNvSpPr txBox="1"/>
          <p:nvPr/>
        </p:nvSpPr>
        <p:spPr>
          <a:xfrm>
            <a:off x="589941" y="4978701"/>
            <a:ext cx="348172" cy="369332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en-US" dirty="0" smtClean="0"/>
              <a:t>SI</a:t>
            </a:r>
            <a:endParaRPr lang="es-ES" dirty="0"/>
          </a:p>
        </p:txBody>
      </p:sp>
      <p:sp>
        <p:nvSpPr>
          <p:cNvPr id="31" name="CuadroTexto 30"/>
          <p:cNvSpPr txBox="1"/>
          <p:nvPr/>
        </p:nvSpPr>
        <p:spPr>
          <a:xfrm>
            <a:off x="4968109" y="4928520"/>
            <a:ext cx="486030" cy="369332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en-US" dirty="0" smtClean="0"/>
              <a:t>NO</a:t>
            </a:r>
            <a:endParaRPr lang="es-ES" dirty="0"/>
          </a:p>
        </p:txBody>
      </p:sp>
      <p:sp>
        <p:nvSpPr>
          <p:cNvPr id="32" name="CuadroTexto 31"/>
          <p:cNvSpPr txBox="1"/>
          <p:nvPr/>
        </p:nvSpPr>
        <p:spPr>
          <a:xfrm>
            <a:off x="11109795" y="5277938"/>
            <a:ext cx="486030" cy="369332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en-US" dirty="0" smtClean="0"/>
              <a:t>NO</a:t>
            </a:r>
            <a:endParaRPr lang="es-ES" dirty="0"/>
          </a:p>
        </p:txBody>
      </p:sp>
      <p:sp>
        <p:nvSpPr>
          <p:cNvPr id="33" name="CuadroTexto 32"/>
          <p:cNvSpPr txBox="1"/>
          <p:nvPr/>
        </p:nvSpPr>
        <p:spPr>
          <a:xfrm>
            <a:off x="6860318" y="5093272"/>
            <a:ext cx="348172" cy="369332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en-US" dirty="0" smtClean="0"/>
              <a:t>SI</a:t>
            </a:r>
            <a:endParaRPr lang="es-ES" dirty="0"/>
          </a:p>
        </p:txBody>
      </p:sp>
      <p:sp>
        <p:nvSpPr>
          <p:cNvPr id="34" name="CuadroTexto 33"/>
          <p:cNvSpPr txBox="1"/>
          <p:nvPr/>
        </p:nvSpPr>
        <p:spPr>
          <a:xfrm>
            <a:off x="938113" y="3246694"/>
            <a:ext cx="965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REGLA 1</a:t>
            </a:r>
            <a:endParaRPr lang="es-ES" dirty="0"/>
          </a:p>
        </p:txBody>
      </p:sp>
      <p:sp>
        <p:nvSpPr>
          <p:cNvPr id="35" name="CuadroTexto 34"/>
          <p:cNvSpPr txBox="1"/>
          <p:nvPr/>
        </p:nvSpPr>
        <p:spPr>
          <a:xfrm>
            <a:off x="4873756" y="3437908"/>
            <a:ext cx="965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REGLA 2</a:t>
            </a:r>
            <a:endParaRPr lang="es-ES" dirty="0"/>
          </a:p>
        </p:txBody>
      </p:sp>
      <p:sp>
        <p:nvSpPr>
          <p:cNvPr id="36" name="CuadroTexto 35"/>
          <p:cNvSpPr txBox="1"/>
          <p:nvPr/>
        </p:nvSpPr>
        <p:spPr>
          <a:xfrm>
            <a:off x="6935970" y="3446257"/>
            <a:ext cx="965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REGLA 3</a:t>
            </a:r>
            <a:endParaRPr lang="es-ES" dirty="0"/>
          </a:p>
        </p:txBody>
      </p:sp>
      <p:sp>
        <p:nvSpPr>
          <p:cNvPr id="37" name="CuadroTexto 36"/>
          <p:cNvSpPr txBox="1"/>
          <p:nvPr/>
        </p:nvSpPr>
        <p:spPr>
          <a:xfrm>
            <a:off x="10779639" y="3586017"/>
            <a:ext cx="965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REGLA 4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78715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ción">
  <a:themeElements>
    <a:clrScheme name="Retrospección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ció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ción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1511</TotalTime>
  <Words>546</Words>
  <Application>Microsoft Office PowerPoint</Application>
  <PresentationFormat>Panorámica</PresentationFormat>
  <Paragraphs>131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Wingdings</vt:lpstr>
      <vt:lpstr>Retrospección</vt:lpstr>
      <vt:lpstr>Reglas de Clasificación (Predictores Basados en Aprendizaje de Reglas) “Rule Learners”  Gustavo Bruges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FORTALEZAS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Reglas de Clasificación Sentencia Lógica IF-ELSE Gustavo Bruges</dc:title>
  <dc:creator>Hemostasia</dc:creator>
  <cp:lastModifiedBy>Hemostasia</cp:lastModifiedBy>
  <cp:revision>27</cp:revision>
  <dcterms:created xsi:type="dcterms:W3CDTF">2016-04-29T17:42:53Z</dcterms:created>
  <dcterms:modified xsi:type="dcterms:W3CDTF">2016-05-17T19:21:31Z</dcterms:modified>
</cp:coreProperties>
</file>